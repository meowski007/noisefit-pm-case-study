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A"/>
          </a:solidFill>
          <a:ln>
            <a:solidFill>
              <a:srgbClr val="12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640080"/>
            <a:ext cx="2926080" cy="2926080"/>
          </a:xfrm>
          <a:prstGeom prst="ellipse">
            <a:avLst/>
          </a:prstGeom>
          <a:solidFill>
            <a:srgbClr val="36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389120"/>
            <a:ext cx="2103120" cy="2103120"/>
          </a:xfrm>
          <a:prstGeom prst="ellipse">
            <a:avLst/>
          </a:prstGeom>
          <a:solidFill>
            <a:srgbClr val="23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822960" y="5029200"/>
            <a:ext cx="2011680" cy="2011680"/>
          </a:xfrm>
          <a:prstGeom prst="ellipse">
            <a:avLst/>
          </a:prstGeom>
          <a:solidFill>
            <a:srgbClr val="7E5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B7A8"/>
                </a:solidFill>
                <a:latin typeface="Aptos"/>
              </a:defRPr>
            </a:pPr>
            <a:r>
              <a:t>PRODUCT MANAGEMENT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7680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NoiseFit</a:t>
            </a:r>
            <a:br/>
            <a:r>
              <a:t>Sync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6675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DAE1EF"/>
                </a:solidFill>
                <a:latin typeface="Aptos"/>
              </a:defRPr>
            </a:pPr>
            <a:r>
              <a:t>Turning wearable data into a more reliable,</a:t>
            </a:r>
            <a:br/>
            <a:r>
              <a:t>transparent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234440"/>
            <a:ext cx="3246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26C80"/>
                </a:solidFill>
                <a:latin typeface="Aptos"/>
              </a:defRPr>
            </a:pPr>
            <a:r>
              <a:t>SYNC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2192A"/>
                </a:solidFill>
                <a:latin typeface="Aptos"/>
              </a:defRPr>
            </a:pPr>
            <a:r>
              <a:t>3 /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54203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C80"/>
                </a:solidFill>
                <a:latin typeface="Aptos"/>
              </a:defRPr>
            </a:pPr>
            <a:r>
              <a:t>data types synced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063240"/>
            <a:ext cx="2560320" cy="384048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10896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2B3D"/>
                </a:solidFill>
                <a:latin typeface="Aptos"/>
              </a:defRPr>
            </a:pPr>
            <a:r>
              <a:t>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31089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BB269"/>
                </a:solidFill>
                <a:latin typeface="Aptos"/>
              </a:defRPr>
            </a:pPr>
            <a:r>
              <a:t>✓ Synced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593592"/>
            <a:ext cx="2560320" cy="384048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639312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2B3D"/>
                </a:solidFill>
                <a:latin typeface="Aptos"/>
              </a:defRPr>
            </a:pPr>
            <a:r>
              <a:t>Heart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3639312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65B60"/>
                </a:solidFill>
                <a:latin typeface="Aptos"/>
              </a:defRPr>
            </a:pPr>
            <a:r>
              <a:t>✓ Synced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123944"/>
            <a:ext cx="2560320" cy="384048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169663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2B3D"/>
                </a:solidFill>
                <a:latin typeface="Aptos"/>
              </a:defRPr>
            </a:pPr>
            <a:r>
              <a:t>Workouts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4169663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BB269"/>
                </a:solidFill>
                <a:latin typeface="Aptos"/>
              </a:defRPr>
            </a:pPr>
            <a:r>
              <a:t>✓ Synced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654296"/>
            <a:ext cx="2560320" cy="384048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470001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2B3D"/>
                </a:solidFill>
                <a:latin typeface="Aptos"/>
              </a:defRPr>
            </a:pPr>
            <a:r>
              <a:t>Sleep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4700016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F59D46"/>
                </a:solidFill>
                <a:latin typeface="Aptos"/>
              </a:defRPr>
            </a:pPr>
            <a:r>
              <a:t>⚠ Delayed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5230368"/>
            <a:ext cx="2697480" cy="292608"/>
          </a:xfrm>
          <a:prstGeom prst="roundRect">
            <a:avLst/>
          </a:prstGeom>
          <a:solidFill>
            <a:srgbClr val="E8EFFF"/>
          </a:solidFill>
          <a:ln>
            <a:solidFill>
              <a:srgbClr val="E8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5239512"/>
            <a:ext cx="2697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366FFF"/>
                </a:solidFill>
                <a:latin typeface="Aptos"/>
              </a:defRPr>
            </a:pPr>
            <a:r>
              <a:t>DETECT  →  EXPLAIN  →  RECOVER  →  CONFIRM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08076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EC7D9"/>
                </a:solidFill>
                <a:latin typeface="Aptos"/>
              </a:defRPr>
            </a:pPr>
            <a:r>
              <a:t>Mohak Seth  •  PM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80"/>
                </a:solidFill>
                <a:latin typeface="Aptos"/>
              </a:defRPr>
            </a:pPr>
            <a:r>
              <a:t>NOISEFIT  /  PRODUCT MANAGEMENT CASE STUDY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26C8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6FFF"/>
                </a:solidFill>
                <a:latin typeface="Aptos"/>
              </a:defRPr>
            </a:pPr>
            <a:r>
              <a:t>01 /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92A"/>
                </a:solidFill>
                <a:latin typeface="Aptos"/>
              </a:defRPr>
            </a:pPr>
            <a:r>
              <a:t>The product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C80"/>
                </a:solidFill>
                <a:latin typeface="Aptos"/>
              </a:defRPr>
            </a:pPr>
            <a:r>
              <a:t>How can NoiseFit make wearable data feel dependable when synchronization breaks?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64008" cy="1417320"/>
          </a:xfrm>
          <a:prstGeom prst="rect">
            <a:avLst/>
          </a:prstGeom>
          <a:solidFill>
            <a:srgbClr val="366FFF"/>
          </a:solidFill>
          <a:ln>
            <a:solidFill>
              <a:srgbClr val="36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2103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92A"/>
                </a:solidFill>
                <a:latin typeface="Aptos"/>
              </a:defRPr>
            </a:pPr>
            <a: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87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26C80"/>
                </a:solidFill>
                <a:latin typeface="Aptos"/>
              </a:defRPr>
            </a:pPr>
            <a:r>
              <a:t>NoiseFit reviews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74519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874519"/>
            <a:ext cx="64008" cy="1417320"/>
          </a:xfrm>
          <a:prstGeom prst="rect">
            <a:avLst/>
          </a:prstGeom>
          <a:solidFill>
            <a:srgbClr val="23B7A8"/>
          </a:solidFill>
          <a:ln>
            <a:solidFill>
              <a:srgbClr val="23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075688"/>
            <a:ext cx="2103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92A"/>
                </a:solidFill>
                <a:latin typeface="Aptos"/>
              </a:defRPr>
            </a:pPr>
            <a:r>
              <a:t>426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87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26C80"/>
                </a:solidFill>
                <a:latin typeface="Aptos"/>
              </a:defRPr>
            </a:pPr>
            <a:r>
              <a:t>reviews across 4 apps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874519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874519"/>
            <a:ext cx="64008" cy="1417320"/>
          </a:xfrm>
          <a:prstGeom prst="rect">
            <a:avLst/>
          </a:prstGeom>
          <a:solidFill>
            <a:srgbClr val="7E5BEF"/>
          </a:solidFill>
          <a:ln>
            <a:solidFill>
              <a:srgbClr val="7E5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075688"/>
            <a:ext cx="2103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92A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587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26C80"/>
                </a:solidFill>
                <a:latin typeface="Aptos"/>
              </a:defRPr>
            </a:pPr>
            <a:r>
              <a:t>Sync/Data mentions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874519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1874519"/>
            <a:ext cx="64008" cy="1417320"/>
          </a:xfrm>
          <a:prstGeom prst="rect">
            <a:avLst/>
          </a:prstGeom>
          <a:solidFill>
            <a:srgbClr val="F59D46"/>
          </a:solidFill>
          <a:ln>
            <a:solidFill>
              <a:srgbClr val="F5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075688"/>
            <a:ext cx="2103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92A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587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26C80"/>
                </a:solidFill>
                <a:latin typeface="Aptos"/>
              </a:defRPr>
            </a:pPr>
            <a:r>
              <a:t>Connectivity mentions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0332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77639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66FFF"/>
                </a:solidFill>
                <a:latin typeface="Aptos"/>
              </a:defRPr>
            </a:pPr>
            <a:r>
              <a:t>CASE STUDY OBJECTIVE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0740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2192A"/>
                </a:solidFill>
                <a:latin typeface="Aptos"/>
              </a:defRPr>
            </a:pPr>
            <a:r>
              <a:t>Find a high-value user problem,</a:t>
            </a:r>
            <a:br/>
            <a:r>
              <a:t>prioritize it with evidence,</a:t>
            </a:r>
            <a:br/>
            <a:r>
              <a:t>and design a measurable response.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703320"/>
            <a:ext cx="5257800" cy="1965960"/>
          </a:xfrm>
          <a:prstGeom prst="roundRect">
            <a:avLst/>
          </a:prstGeom>
          <a:solidFill>
            <a:srgbClr val="12192A"/>
          </a:solidFill>
          <a:ln>
            <a:solidFill>
              <a:srgbClr val="12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977639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B7A8"/>
                </a:solidFill>
                <a:latin typeface="Aptos"/>
              </a:defRPr>
            </a:pPr>
            <a:r>
              <a:t>RESEARCH GUARDRAIL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40740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Review data is directional and self-selected.</a:t>
            </a:r>
            <a:br/>
            <a:r>
              <a:t>It is evidence for hypotheses — not internal</a:t>
            </a:r>
            <a:br/>
            <a:r>
              <a:t>Noise analytics or population estimates.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80"/>
                </a:solidFill>
                <a:latin typeface="Aptos"/>
              </a:defRPr>
            </a:pPr>
            <a:r>
              <a:t>NOISEFIT  /  PRODUCT MANAGEMENT CASE STUDY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26C80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6FFF"/>
                </a:solidFill>
                <a:latin typeface="Aptos"/>
              </a:defRPr>
            </a:pPr>
            <a:r>
              <a:t>02 /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92A"/>
                </a:solidFill>
                <a:latin typeface="Aptos"/>
              </a:defRPr>
            </a:pPr>
            <a:r>
              <a:t>From reviews to product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C80"/>
                </a:solidFill>
                <a:latin typeface="Aptos"/>
              </a:defRPr>
            </a:pPr>
            <a:r>
              <a:t>I coded reviews by theme, rating, sentiment and evidence 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39112"/>
            <a:ext cx="914400" cy="292608"/>
          </a:xfrm>
          <a:prstGeom prst="roundRect">
            <a:avLst/>
          </a:prstGeom>
          <a:solidFill>
            <a:srgbClr val="E8EFFF"/>
          </a:solidFill>
          <a:ln>
            <a:solidFill>
              <a:srgbClr val="E8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366FFF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2B3D"/>
                </a:solidFill>
                <a:latin typeface="Aptos"/>
              </a:defRPr>
            </a:pPr>
            <a:r>
              <a:t>426 public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626C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874519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03320" y="2039112"/>
            <a:ext cx="914400" cy="292608"/>
          </a:xfrm>
          <a:prstGeom prst="roundRect">
            <a:avLst/>
          </a:prstGeom>
          <a:solidFill>
            <a:srgbClr val="F0EBFF"/>
          </a:solidFill>
          <a:ln>
            <a:solidFill>
              <a:srgbClr val="F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048255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7E5BEF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46888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2B3D"/>
                </a:solidFill>
                <a:latin typeface="Aptos"/>
              </a:defRPr>
            </a:pPr>
            <a:r>
              <a:t>Primary theme + sentiment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1031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626C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874519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2039112"/>
            <a:ext cx="914400" cy="292608"/>
          </a:xfrm>
          <a:prstGeom prst="roundRect">
            <a:avLst/>
          </a:prstGeom>
          <a:solidFill>
            <a:srgbClr val="E4F7F4"/>
          </a:solidFill>
          <a:ln>
            <a:solidFill>
              <a:srgbClr val="E4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48255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3B7A8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2B3D"/>
                </a:solidFill>
                <a:latin typeface="Aptos"/>
              </a:defRPr>
            </a:pPr>
            <a:r>
              <a:t>4 competing apps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626C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874519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81159" y="2039112"/>
            <a:ext cx="914400" cy="292608"/>
          </a:xfrm>
          <a:prstGeom prst="roundRect">
            <a:avLst/>
          </a:prstGeom>
          <a:solidFill>
            <a:srgbClr val="FFF3E2"/>
          </a:solidFill>
          <a:ln>
            <a:solidFill>
              <a:srgbClr val="FFF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59" y="2048255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59D46"/>
                </a:solidFill>
                <a:latin typeface="Aptos"/>
              </a:defRPr>
            </a:pPr>
            <a:r>
              <a:t>SYNTHESIZE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246888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2B3D"/>
                </a:solidFill>
                <a:latin typeface="Aptos"/>
              </a:defRPr>
            </a:pPr>
            <a:r>
              <a:t>Pain points + opportunity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566160"/>
            <a:ext cx="10744200" cy="2148840"/>
          </a:xfrm>
          <a:prstGeom prst="roundRect">
            <a:avLst/>
          </a:prstGeom>
          <a:solidFill>
            <a:srgbClr val="12192A"/>
          </a:solidFill>
          <a:ln>
            <a:solidFill>
              <a:srgbClr val="12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840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B7A8"/>
                </a:solidFill>
                <a:latin typeface="Aptos"/>
              </a:defRPr>
            </a:pPr>
            <a:r>
              <a:t>WHAT WE LOOKED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4340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3434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2DAE9"/>
                </a:solidFill>
                <a:latin typeface="Aptos"/>
              </a:defRPr>
            </a:pPr>
            <a:r>
              <a:t>How often does the theme appear?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34340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Severity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3434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2DAE9"/>
                </a:solidFill>
                <a:latin typeface="Aptos"/>
              </a:defRPr>
            </a:pPr>
            <a:r>
              <a:t>Does it concentrate in low ratings?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00176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Differentiation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5001768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2DAE9"/>
                </a:solidFill>
                <a:latin typeface="Aptos"/>
              </a:defRPr>
            </a:pPr>
            <a:r>
              <a:t>How does it compare with competitors?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500176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User 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001768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2DAE9"/>
                </a:solidFill>
                <a:latin typeface="Aptos"/>
              </a:defRPr>
            </a:pPr>
            <a:r>
              <a:t>What does the user actually need?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80"/>
                </a:solidFill>
                <a:latin typeface="Aptos"/>
              </a:defRPr>
            </a:pPr>
            <a:r>
              <a:t>NOISEFIT  /  PRODUCT MANAGEMENT CASE STUDY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26C80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6FFF"/>
                </a:solidFill>
                <a:latin typeface="Aptos"/>
              </a:defRPr>
            </a:pPr>
            <a:r>
              <a:t>03 /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92A"/>
                </a:solidFill>
                <a:latin typeface="Aptos"/>
              </a:defRPr>
            </a:pPr>
            <a:r>
              <a:t>What NoiseFit users talk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C80"/>
                </a:solidFill>
                <a:latin typeface="Aptos"/>
              </a:defRPr>
            </a:pPr>
            <a:r>
              <a:t>The biggest themes are concentrated around reliability and core product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375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2B3D"/>
                </a:solidFill>
                <a:latin typeface="Aptos"/>
              </a:defRPr>
            </a:pPr>
            <a:r>
              <a:t>Sync /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0487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92A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2542032"/>
            <a:ext cx="2011680" cy="146304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91640" y="2542032"/>
            <a:ext cx="2011680" cy="146304"/>
          </a:xfrm>
          <a:prstGeom prst="rect">
            <a:avLst/>
          </a:prstGeom>
          <a:solidFill>
            <a:srgbClr val="366FFF"/>
          </a:solidFill>
          <a:ln>
            <a:solidFill>
              <a:srgbClr val="36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2377439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32B3D"/>
                </a:solidFill>
                <a:latin typeface="Aptos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33375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205740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2B3D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40487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92A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59" y="2542032"/>
            <a:ext cx="2011680" cy="146304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94959" y="2542032"/>
            <a:ext cx="1920240" cy="146304"/>
          </a:xfrm>
          <a:prstGeom prst="rect">
            <a:avLst/>
          </a:prstGeom>
          <a:solidFill>
            <a:srgbClr val="7E5BEF"/>
          </a:solidFill>
          <a:ln>
            <a:solidFill>
              <a:srgbClr val="7E5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4071" y="2377439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32B3D"/>
                </a:solidFill>
                <a:latin typeface="Aptos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8138160" y="1874519"/>
            <a:ext cx="33375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205740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2B3D"/>
                </a:solidFill>
                <a:latin typeface="Aptos"/>
              </a:defRPr>
            </a:pPr>
            <a:r>
              <a:t>Connectivity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40487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92A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2542032"/>
            <a:ext cx="2011680" cy="146304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2542032"/>
            <a:ext cx="1463040" cy="146304"/>
          </a:xfrm>
          <a:prstGeom prst="rect">
            <a:avLst/>
          </a:prstGeom>
          <a:solidFill>
            <a:srgbClr val="23B7A8"/>
          </a:solidFill>
          <a:ln>
            <a:solidFill>
              <a:srgbClr val="23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37392" y="2377439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32B3D"/>
                </a:solidFill>
                <a:latin typeface="Aptos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31520" y="3429000"/>
            <a:ext cx="33375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61188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2B3D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95935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92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640" y="4096512"/>
            <a:ext cx="2011680" cy="146304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91640" y="4096512"/>
            <a:ext cx="914400" cy="146304"/>
          </a:xfrm>
          <a:prstGeom prst="rect">
            <a:avLst/>
          </a:prstGeom>
          <a:solidFill>
            <a:srgbClr val="F59D46"/>
          </a:solidFill>
          <a:ln>
            <a:solidFill>
              <a:srgbClr val="F5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0752" y="3931920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32B3D"/>
                </a:solidFill>
                <a:latin typeface="Aptos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4434840" y="3429000"/>
            <a:ext cx="33375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36007" y="361188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2B3D"/>
                </a:solidFill>
                <a:latin typeface="Aptos"/>
              </a:defRPr>
            </a:pPr>
            <a:r>
              <a:t>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7" y="395935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92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59" y="4096512"/>
            <a:ext cx="2011680" cy="146304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94959" y="4096512"/>
            <a:ext cx="731520" cy="146304"/>
          </a:xfrm>
          <a:prstGeom prst="rect">
            <a:avLst/>
          </a:prstGeom>
          <a:solidFill>
            <a:srgbClr val="2BB269"/>
          </a:solidFill>
          <a:ln>
            <a:solidFill>
              <a:srgbClr val="2BB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34071" y="3931920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32B3D"/>
                </a:solidFill>
                <a:latin typeface="Aptos"/>
              </a:defRPr>
            </a:pPr>
          </a:p>
        </p:txBody>
      </p:sp>
      <p:sp>
        <p:nvSpPr>
          <p:cNvPr id="36" name="Rounded Rectangle 35"/>
          <p:cNvSpPr/>
          <p:nvPr/>
        </p:nvSpPr>
        <p:spPr>
          <a:xfrm>
            <a:off x="8138160" y="3429000"/>
            <a:ext cx="33375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9328" y="361188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2B3D"/>
                </a:solidFill>
                <a:latin typeface="Aptos"/>
              </a:defRPr>
            </a:pPr>
            <a:r>
              <a:t>Pricing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8" y="395935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92A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98280" y="4096512"/>
            <a:ext cx="2011680" cy="146304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98280" y="4096512"/>
            <a:ext cx="640080" cy="146304"/>
          </a:xfrm>
          <a:prstGeom prst="rect">
            <a:avLst/>
          </a:prstGeom>
          <a:solidFill>
            <a:srgbClr val="E65B60"/>
          </a:solidFill>
          <a:ln>
            <a:solidFill>
              <a:srgbClr val="E6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7392" y="3931920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32B3D"/>
                </a:solidFill>
                <a:latin typeface="Aptos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777240" y="52578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192A"/>
                </a:solidFill>
                <a:latin typeface="Aptos"/>
              </a:defRPr>
            </a:pPr>
            <a:r>
              <a:t>61.5% of NoiseFit's sampled reviews were coded to Sync/Data, Features/Functionality or Connectivity.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806440"/>
            <a:ext cx="2011680" cy="292608"/>
          </a:xfrm>
          <a:prstGeom prst="roundRect">
            <a:avLst/>
          </a:prstGeom>
          <a:solidFill>
            <a:srgbClr val="E8EFFF"/>
          </a:solidFill>
          <a:ln>
            <a:solidFill>
              <a:srgbClr val="E8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815583"/>
            <a:ext cx="2011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366FFF"/>
                </a:solidFill>
                <a:latin typeface="Aptos"/>
              </a:defRPr>
            </a:pPr>
            <a:r>
              <a:t>KEY SIGNAL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1800" y="580644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26C80"/>
                </a:solidFill>
                <a:latin typeface="Aptos"/>
              </a:defRPr>
            </a:pPr>
            <a:r>
              <a:t>Reliability problems are more closely tied to low ratings than broad feature requests.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80"/>
                </a:solidFill>
                <a:latin typeface="Aptos"/>
              </a:defRPr>
            </a:pPr>
            <a:r>
              <a:t>NOISEFIT  /  PRODUCT MANAGEMENT CASE STUDY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26C80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6FFF"/>
                </a:solidFill>
                <a:latin typeface="Aptos"/>
              </a:defRPr>
            </a:pPr>
            <a:r>
              <a:t>04 / COMPETITIVE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92A"/>
                </a:solidFill>
                <a:latin typeface="Aptos"/>
              </a:defRPr>
            </a:pPr>
            <a:r>
              <a:t>Sync is not unique — the experience can still 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C80"/>
                </a:solidFill>
                <a:latin typeface="Aptos"/>
              </a:defRPr>
            </a:pPr>
            <a:r>
              <a:t>Cross-brand evidence keeps the problem statement honest.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2B3D"/>
                </a:solidFill>
                <a:latin typeface="Aptos"/>
              </a:defRPr>
            </a:pPr>
            <a:r>
              <a:t>NoiseFit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911095"/>
            <a:ext cx="5943600" cy="219456"/>
          </a:xfrm>
          <a:prstGeom prst="rect">
            <a:avLst/>
          </a:prstGeom>
          <a:solidFill>
            <a:srgbClr val="E5E9F0"/>
          </a:solidFill>
          <a:ln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1911095"/>
            <a:ext cx="5444337" cy="219456"/>
          </a:xfrm>
          <a:prstGeom prst="rect">
            <a:avLst/>
          </a:prstGeom>
          <a:solidFill>
            <a:srgbClr val="366FFF"/>
          </a:solidFill>
          <a:ln>
            <a:solidFill>
              <a:srgbClr val="36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1847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2192A"/>
                </a:solidFill>
                <a:latin typeface="Aptos"/>
              </a:defRPr>
            </a:pPr>
            <a:r>
              <a:t>22.9%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79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2B3D"/>
                </a:solidFill>
                <a:latin typeface="Aptos"/>
              </a:defRPr>
            </a:pPr>
            <a:r>
              <a:t>boAt Crest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734056"/>
            <a:ext cx="5943600" cy="219456"/>
          </a:xfrm>
          <a:prstGeom prst="rect">
            <a:avLst/>
          </a:prstGeom>
          <a:solidFill>
            <a:srgbClr val="E5E9F0"/>
          </a:solidFill>
          <a:ln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2734056"/>
            <a:ext cx="2734056" cy="219456"/>
          </a:xfrm>
          <a:prstGeom prst="rect">
            <a:avLst/>
          </a:prstGeom>
          <a:solidFill>
            <a:srgbClr val="23B7A8"/>
          </a:solidFill>
          <a:ln>
            <a:solidFill>
              <a:srgbClr val="23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267004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2192A"/>
                </a:solidFill>
                <a:latin typeface="Aptos"/>
              </a:defRPr>
            </a:pPr>
            <a:r>
              <a:t>11.5%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0439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2B3D"/>
                </a:solidFill>
                <a:latin typeface="Aptos"/>
              </a:defRPr>
            </a:pPr>
            <a:r>
              <a:t>Fitbit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557015"/>
            <a:ext cx="5943600" cy="219456"/>
          </a:xfrm>
          <a:prstGeom prst="rect">
            <a:avLst/>
          </a:prstGeom>
          <a:solidFill>
            <a:srgbClr val="E5E9F0"/>
          </a:solidFill>
          <a:ln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3557015"/>
            <a:ext cx="4945075" cy="219456"/>
          </a:xfrm>
          <a:prstGeom prst="rect">
            <a:avLst/>
          </a:prstGeom>
          <a:solidFill>
            <a:srgbClr val="7E5BEF"/>
          </a:solidFill>
          <a:ln>
            <a:solidFill>
              <a:srgbClr val="7E5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349300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2192A"/>
                </a:solidFill>
                <a:latin typeface="Aptos"/>
              </a:defRPr>
            </a:pPr>
            <a:r>
              <a:t>20.8%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4340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2B3D"/>
                </a:solidFill>
                <a:latin typeface="Aptos"/>
              </a:defRPr>
            </a:pPr>
            <a:r>
              <a:t>Samsung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4379976"/>
            <a:ext cx="5943600" cy="219456"/>
          </a:xfrm>
          <a:prstGeom prst="rect">
            <a:avLst/>
          </a:prstGeom>
          <a:solidFill>
            <a:srgbClr val="E5E9F0"/>
          </a:solidFill>
          <a:ln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4379976"/>
            <a:ext cx="2900476" cy="219456"/>
          </a:xfrm>
          <a:prstGeom prst="rect">
            <a:avLst/>
          </a:prstGeom>
          <a:solidFill>
            <a:srgbClr val="F59D46"/>
          </a:solidFill>
          <a:ln>
            <a:solidFill>
              <a:srgbClr val="F5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431596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2192A"/>
                </a:solidFill>
                <a:latin typeface="Aptos"/>
              </a:defRPr>
            </a:pPr>
            <a:r>
              <a:t>12.2%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394960"/>
            <a:ext cx="10698480" cy="658368"/>
          </a:xfrm>
          <a:prstGeom prst="roundRect">
            <a:avLst/>
          </a:prstGeom>
          <a:solidFill>
            <a:srgbClr val="E4F7F4"/>
          </a:solidFill>
          <a:ln>
            <a:solidFill>
              <a:srgbClr val="E4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577840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2B3D"/>
                </a:solidFill>
                <a:latin typeface="Aptos"/>
              </a:defRPr>
            </a:pPr>
            <a:r>
              <a:t>PM interpretation: don't claim “NoiseFit alone has sync issues.” Focus on making the sync experience more visible, diagnosable and recoverable.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80"/>
                </a:solidFill>
                <a:latin typeface="Aptos"/>
              </a:defRPr>
            </a:pPr>
            <a:r>
              <a:t>NOISEFIT  /  PRODUCT MANAGEMENT CASE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26C80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6FFF"/>
                </a:solidFill>
                <a:latin typeface="Aptos"/>
              </a:defRPr>
            </a:pPr>
            <a:r>
              <a:t>05 /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92A"/>
                </a:solidFill>
                <a:latin typeface="Aptos"/>
              </a:defRPr>
            </a:pPr>
            <a:r>
              <a:t>The failure is technical. The consequence is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C80"/>
                </a:solidFill>
                <a:latin typeface="Aptos"/>
              </a:defRPr>
            </a:pPr>
            <a:r>
              <a:t>A broken sync flow creates uncertainty about the user's own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02920" cy="292608"/>
          </a:xfrm>
          <a:prstGeom prst="roundRect">
            <a:avLst/>
          </a:prstGeom>
          <a:solidFill>
            <a:srgbClr val="366FFF"/>
          </a:solidFill>
          <a:ln>
            <a:solidFill>
              <a:srgbClr val="36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49424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66FFF"/>
                </a:solidFill>
                <a:latin typeface="Aptos"/>
              </a:defRPr>
            </a:pPr>
            <a:r>
              <a:t>WEAR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Device records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67004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626C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2057400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44952" y="2240280"/>
            <a:ext cx="502920" cy="292608"/>
          </a:xfrm>
          <a:prstGeom prst="roundRect">
            <a:avLst/>
          </a:prstGeom>
          <a:solidFill>
            <a:srgbClr val="23B7A8"/>
          </a:solidFill>
          <a:ln>
            <a:solidFill>
              <a:srgbClr val="23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2249424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74320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B7A8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310896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Watch ↔ 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267004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626C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4" y="2057400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12664" y="2240280"/>
            <a:ext cx="502920" cy="292608"/>
          </a:xfrm>
          <a:prstGeom prst="roundRect">
            <a:avLst/>
          </a:prstGeom>
          <a:solidFill>
            <a:srgbClr val="7E5BEF"/>
          </a:solidFill>
          <a:ln>
            <a:solidFill>
              <a:srgbClr val="7E5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2664" y="2249424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274320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E5BEF"/>
                </a:solidFill>
                <a:latin typeface="Aptos"/>
              </a:defRPr>
            </a:pPr>
            <a:r>
              <a:t>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2664" y="310896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Data transfers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3176" y="267004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626C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97496" y="2057400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0375" y="2240280"/>
            <a:ext cx="502920" cy="292608"/>
          </a:xfrm>
          <a:prstGeom prst="roundRect">
            <a:avLst/>
          </a:prstGeom>
          <a:solidFill>
            <a:srgbClr val="F59D46"/>
          </a:solidFill>
          <a:ln>
            <a:solidFill>
              <a:srgbClr val="F5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0375" y="2249424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375" y="274320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9D46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5" y="310896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User sees a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267004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626C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65208" y="2057400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48088" y="2240280"/>
            <a:ext cx="502920" cy="292608"/>
          </a:xfrm>
          <a:prstGeom prst="roundRect">
            <a:avLst/>
          </a:prstGeom>
          <a:solidFill>
            <a:srgbClr val="E65B60"/>
          </a:solidFill>
          <a:ln>
            <a:solidFill>
              <a:srgbClr val="E6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48088" y="2249424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274320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65B60"/>
                </a:solidFill>
                <a:latin typeface="Aptos"/>
              </a:defRPr>
            </a:pPr>
            <a:r>
              <a:t>RECOVER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088" y="310896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Troubleshoot / retry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88720" y="4343400"/>
            <a:ext cx="9784080" cy="1097280"/>
          </a:xfrm>
          <a:prstGeom prst="roundRect">
            <a:avLst/>
          </a:prstGeom>
          <a:solidFill>
            <a:srgbClr val="12192A"/>
          </a:solidFill>
          <a:ln>
            <a:solidFill>
              <a:srgbClr val="12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08760" y="4572000"/>
            <a:ext cx="9052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“Did my data sync?”  →  “What went wrong?”  →  “What do I do now?”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80"/>
                </a:solidFill>
                <a:latin typeface="Aptos"/>
              </a:defRPr>
            </a:pPr>
            <a:r>
              <a:t>NOISEFIT  /  PRODUCT MANAGEMENT CASE STUDY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26C80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6FFF"/>
                </a:solidFill>
                <a:latin typeface="Aptos"/>
              </a:defRPr>
            </a:pPr>
            <a:r>
              <a:t>06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92A"/>
                </a:solidFill>
                <a:latin typeface="Aptos"/>
              </a:defRPr>
            </a:pPr>
            <a:r>
              <a:t>A narrower, testable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C80"/>
                </a:solidFill>
                <a:latin typeface="Aptos"/>
              </a:defRPr>
            </a:pPr>
            <a:r>
              <a:t>The opportunity is not “fix every sync bug.” It is to improve the user's ability to understand and recover.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995160" cy="3200400"/>
          </a:xfrm>
          <a:prstGeom prst="roundRect">
            <a:avLst/>
          </a:prstGeom>
          <a:solidFill>
            <a:srgbClr val="12192A"/>
          </a:solidFill>
          <a:ln>
            <a:solidFill>
              <a:srgbClr val="12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B7A8"/>
                </a:solidFill>
                <a:latin typeface="Aptos"/>
              </a:defRPr>
            </a:pPr>
            <a:r>
              <a:t>WORKING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6172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NoiseFit users may lack a sufficiently reliable and transparent way to know whether their wearable data has successfully reached the app — and what to do when it has not.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66FFF"/>
                </a:solidFill>
                <a:latin typeface="Aptos"/>
              </a:defRPr>
            </a:pPr>
            <a:r>
              <a:t>WHY THIS IS TESTABLE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743200"/>
            <a:ext cx="347472" cy="292608"/>
          </a:xfrm>
          <a:prstGeom prst="roundRect">
            <a:avLst/>
          </a:prstGeom>
          <a:solidFill>
            <a:srgbClr val="E8EFFF"/>
          </a:solidFill>
          <a:ln>
            <a:solidFill>
              <a:srgbClr val="E8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752344"/>
            <a:ext cx="34747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366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761488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Sync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3246120"/>
            <a:ext cx="347472" cy="292608"/>
          </a:xfrm>
          <a:prstGeom prst="roundRect">
            <a:avLst/>
          </a:prstGeom>
          <a:solidFill>
            <a:srgbClr val="E8EFFF"/>
          </a:solidFill>
          <a:ln>
            <a:solidFill>
              <a:srgbClr val="E8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255263"/>
            <a:ext cx="34747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366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264408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Missing-data visibility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3749039"/>
            <a:ext cx="347472" cy="292608"/>
          </a:xfrm>
          <a:prstGeom prst="roundRect">
            <a:avLst/>
          </a:prstGeom>
          <a:solidFill>
            <a:srgbClr val="E8EFFF"/>
          </a:solidFill>
          <a:ln>
            <a:solidFill>
              <a:srgbClr val="E8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758183"/>
            <a:ext cx="34747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366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767327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Recovery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4251960"/>
            <a:ext cx="347472" cy="292608"/>
          </a:xfrm>
          <a:prstGeom prst="roundRect">
            <a:avLst/>
          </a:prstGeom>
          <a:solidFill>
            <a:srgbClr val="E8EFFF"/>
          </a:solidFill>
          <a:ln>
            <a:solidFill>
              <a:srgbClr val="E8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4261104"/>
            <a:ext cx="34747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366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270248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Success confirmation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80"/>
                </a:solidFill>
                <a:latin typeface="Aptos"/>
              </a:defRPr>
            </a:pPr>
            <a:r>
              <a:t>NOISEFIT  /  PRODUCT MANAGEMENT 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26C80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6FFF"/>
                </a:solidFill>
                <a:latin typeface="Aptos"/>
              </a:defRPr>
            </a:pPr>
            <a:r>
              <a:t>07 /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92A"/>
                </a:solidFill>
                <a:latin typeface="Aptos"/>
              </a:defRPr>
            </a:pPr>
            <a:r>
              <a:t>Choosing 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C80"/>
                </a:solidFill>
                <a:latin typeface="Aptos"/>
              </a:defRPr>
            </a:pPr>
            <a:r>
              <a:t>RICE makes the assumptions explicit instead of hiding the decision behind intuition.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2B3D"/>
                </a:solidFill>
                <a:latin typeface="Aptos"/>
              </a:defRPr>
            </a:pPr>
            <a:r>
              <a:t>Reliable sync &amp; recovery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810512"/>
            <a:ext cx="5852160" cy="182880"/>
          </a:xfrm>
          <a:prstGeom prst="rect">
            <a:avLst/>
          </a:prstGeom>
          <a:solidFill>
            <a:srgbClr val="E7EAF1"/>
          </a:solidFill>
          <a:ln>
            <a:solidFill>
              <a:srgbClr val="E7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1810512"/>
            <a:ext cx="5852160" cy="182880"/>
          </a:xfrm>
          <a:prstGeom prst="rect">
            <a:avLst/>
          </a:prstGeom>
          <a:solidFill>
            <a:srgbClr val="366FFF"/>
          </a:solidFill>
          <a:ln>
            <a:solidFill>
              <a:srgbClr val="36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1746504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12192A"/>
                </a:solidFill>
                <a:latin typeface="Aptos"/>
              </a:defRPr>
            </a:pPr>
            <a:r>
              <a:t>4.08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5915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2B3D"/>
                </a:solidFill>
                <a:latin typeface="Aptos"/>
              </a:defRPr>
            </a:pPr>
            <a:r>
              <a:t>Bluetooth recovery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386584"/>
            <a:ext cx="5852160" cy="182880"/>
          </a:xfrm>
          <a:prstGeom prst="rect">
            <a:avLst/>
          </a:prstGeom>
          <a:solidFill>
            <a:srgbClr val="E7EAF1"/>
          </a:solidFill>
          <a:ln>
            <a:solidFill>
              <a:srgbClr val="E7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386584"/>
            <a:ext cx="4819425" cy="182880"/>
          </a:xfrm>
          <a:prstGeom prst="rect">
            <a:avLst/>
          </a:prstGeom>
          <a:solidFill>
            <a:srgbClr val="23B7A8"/>
          </a:solidFill>
          <a:ln>
            <a:solidFill>
              <a:srgbClr val="23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322576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12192A"/>
                </a:solidFill>
                <a:latin typeface="Aptos"/>
              </a:defRPr>
            </a:pPr>
            <a:r>
              <a:t>3.36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35224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2B3D"/>
                </a:solidFill>
                <a:latin typeface="Aptos"/>
              </a:defRPr>
            </a:pPr>
            <a:r>
              <a:t>App performance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962656"/>
            <a:ext cx="5852160" cy="182880"/>
          </a:xfrm>
          <a:prstGeom prst="rect">
            <a:avLst/>
          </a:prstGeom>
          <a:solidFill>
            <a:srgbClr val="E7EAF1"/>
          </a:solidFill>
          <a:ln>
            <a:solidFill>
              <a:srgbClr val="E7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2962656"/>
            <a:ext cx="2510117" cy="182880"/>
          </a:xfrm>
          <a:prstGeom prst="rect">
            <a:avLst/>
          </a:prstGeom>
          <a:solidFill>
            <a:srgbClr val="F59D46"/>
          </a:solidFill>
          <a:ln>
            <a:solidFill>
              <a:srgbClr val="F5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2898648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12192A"/>
                </a:solidFill>
                <a:latin typeface="Aptos"/>
              </a:defRPr>
            </a:pPr>
            <a:r>
              <a:t>1.75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11296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2B3D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538727"/>
            <a:ext cx="5852160" cy="182880"/>
          </a:xfrm>
          <a:prstGeom prst="rect">
            <a:avLst/>
          </a:prstGeom>
          <a:solidFill>
            <a:srgbClr val="E7EAF1"/>
          </a:solidFill>
          <a:ln>
            <a:solidFill>
              <a:srgbClr val="E7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0" y="3538727"/>
            <a:ext cx="2395369" cy="182880"/>
          </a:xfrm>
          <a:prstGeom prst="rect">
            <a:avLst/>
          </a:prstGeom>
          <a:solidFill>
            <a:srgbClr val="7E5BEF"/>
          </a:solidFill>
          <a:ln>
            <a:solidFill>
              <a:srgbClr val="7E5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347472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12192A"/>
                </a:solidFill>
                <a:latin typeface="Aptos"/>
              </a:defRPr>
            </a:pPr>
            <a:r>
              <a:t>1.67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087368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2B3D"/>
                </a:solidFill>
                <a:latin typeface="Aptos"/>
              </a:defRPr>
            </a:pPr>
            <a:r>
              <a:t>Workout depth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4114800"/>
            <a:ext cx="5852160" cy="182880"/>
          </a:xfrm>
          <a:prstGeom prst="rect">
            <a:avLst/>
          </a:prstGeom>
          <a:solidFill>
            <a:srgbClr val="E7EAF1"/>
          </a:solidFill>
          <a:ln>
            <a:solidFill>
              <a:srgbClr val="E7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4114800"/>
            <a:ext cx="1864658" cy="182880"/>
          </a:xfrm>
          <a:prstGeom prst="rect">
            <a:avLst/>
          </a:prstGeom>
          <a:solidFill>
            <a:srgbClr val="2BB269"/>
          </a:solidFill>
          <a:ln>
            <a:solidFill>
              <a:srgbClr val="2BB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4050791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12192A"/>
                </a:solidFill>
                <a:latin typeface="Aptos"/>
              </a:defRPr>
            </a:pPr>
            <a:r>
              <a:t>1.30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6344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2B3D"/>
                </a:solidFill>
                <a:latin typeface="Aptos"/>
              </a:defRPr>
            </a:pPr>
            <a:r>
              <a:t>Pricing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690872"/>
            <a:ext cx="5852160" cy="182880"/>
          </a:xfrm>
          <a:prstGeom prst="rect">
            <a:avLst/>
          </a:prstGeom>
          <a:solidFill>
            <a:srgbClr val="E7EAF1"/>
          </a:solidFill>
          <a:ln>
            <a:solidFill>
              <a:srgbClr val="E7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83280" y="4690872"/>
            <a:ext cx="1534757" cy="182880"/>
          </a:xfrm>
          <a:prstGeom prst="rect">
            <a:avLst/>
          </a:prstGeom>
          <a:solidFill>
            <a:srgbClr val="E65B60"/>
          </a:solidFill>
          <a:ln>
            <a:solidFill>
              <a:srgbClr val="E6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4626864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12192A"/>
                </a:solidFill>
                <a:latin typeface="Aptos"/>
              </a:defRPr>
            </a:pPr>
            <a:r>
              <a:t>1.07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2395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2B3D"/>
                </a:solidFill>
                <a:latin typeface="Aptos"/>
              </a:defRPr>
            </a:pPr>
            <a:r>
              <a:t>Customization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5266944"/>
            <a:ext cx="5852160" cy="182880"/>
          </a:xfrm>
          <a:prstGeom prst="rect">
            <a:avLst/>
          </a:prstGeom>
          <a:solidFill>
            <a:srgbClr val="E7EAF1"/>
          </a:solidFill>
          <a:ln>
            <a:solidFill>
              <a:srgbClr val="E7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3280" y="5266944"/>
            <a:ext cx="860611" cy="182880"/>
          </a:xfrm>
          <a:prstGeom prst="rect">
            <a:avLst/>
          </a:prstGeom>
          <a:solidFill>
            <a:srgbClr val="626C80"/>
          </a:solidFill>
          <a:ln>
            <a:solidFill>
              <a:srgbClr val="626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4040" y="5202936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12192A"/>
                </a:solidFill>
                <a:latin typeface="Aptos"/>
              </a:defRPr>
            </a:pPr>
            <a:r>
              <a:t>0.60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5440680"/>
            <a:ext cx="3611880" cy="548640"/>
          </a:xfrm>
          <a:prstGeom prst="roundRect">
            <a:avLst/>
          </a:prstGeom>
          <a:solidFill>
            <a:srgbClr val="E8EFFF"/>
          </a:solidFill>
          <a:ln>
            <a:solidFill>
              <a:srgbClr val="E8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5577840"/>
            <a:ext cx="3337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66FFF"/>
                </a:solidFill>
                <a:latin typeface="Aptos"/>
              </a:defRPr>
            </a:pPr>
            <a:r>
              <a:t>RICE = Reach × Impact × Confidence ÷ Effort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5778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26C80"/>
                </a:solidFill>
                <a:latin typeface="Aptos"/>
              </a:defRPr>
            </a:pPr>
            <a:r>
              <a:t>Portfolio assumptions — not Noise internal metrics.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80"/>
                </a:solidFill>
                <a:latin typeface="Aptos"/>
              </a:defRPr>
            </a:pPr>
            <a:r>
              <a:t>NOISEFIT  /  PRODUCT MANAGEMENT CASE STUDY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26C80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6FFF"/>
                </a:solidFill>
                <a:latin typeface="Aptos"/>
              </a:defRPr>
            </a:pPr>
            <a:r>
              <a:t>08 /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92A"/>
                </a:solidFill>
                <a:latin typeface="Aptos"/>
              </a:defRPr>
            </a:pPr>
            <a:r>
              <a:t>Introducing Sync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C80"/>
                </a:solidFill>
                <a:latin typeface="Aptos"/>
              </a:defRPr>
            </a:pPr>
            <a:r>
              <a:t>One experience to detect, explain, recover and confirm.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68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366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44368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66FFF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64992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32B3D"/>
                </a:solidFill>
                <a:latin typeface="Aptos"/>
              </a:defRPr>
            </a:pPr>
            <a:r>
              <a:t>Real-time state for each data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6974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626C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920240"/>
            <a:ext cx="2468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49039" y="2194560"/>
            <a:ext cx="566928" cy="566928"/>
          </a:xfrm>
          <a:prstGeom prst="ellipse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331720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7E5BE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944368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7E5BEF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364992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32B3D"/>
                </a:solidFill>
                <a:latin typeface="Aptos"/>
              </a:defRPr>
            </a:pPr>
            <a:r>
              <a:t>Simple reason + last successful 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26974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626C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1920240"/>
            <a:ext cx="2468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37959" y="2194560"/>
            <a:ext cx="566928" cy="566928"/>
          </a:xfrm>
          <a:prstGeom prst="ellipse">
            <a:avLst/>
          </a:prstGeom>
          <a:solidFill>
            <a:srgbClr val="E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2331720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3B7A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944368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B7A8"/>
                </a:solidFill>
                <a:latin typeface="Aptos"/>
              </a:defRPr>
            </a:pPr>
            <a: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364992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32B3D"/>
                </a:solidFill>
                <a:latin typeface="Aptos"/>
              </a:defRPr>
            </a:pPr>
            <a:r>
              <a:t>Retry or guided reconnect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72" y="26974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626C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1920240"/>
            <a:ext cx="2468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0" y="2194560"/>
            <a:ext cx="566928" cy="566928"/>
          </a:xfrm>
          <a:prstGeom prst="ellipse">
            <a:avLst/>
          </a:prstGeom>
          <a:solidFill>
            <a:srgbClr val="FF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2331720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59D4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944368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59D46"/>
                </a:solidFill>
                <a:latin typeface="Aptos"/>
              </a:defRPr>
            </a:pPr>
            <a:r>
              <a:t>CONFIRM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364992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32B3D"/>
                </a:solidFill>
                <a:latin typeface="Aptos"/>
              </a:defRPr>
            </a:pPr>
            <a:r>
              <a:t>Show exactly what was restored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389120"/>
            <a:ext cx="10698480" cy="1051560"/>
          </a:xfrm>
          <a:prstGeom prst="roundRect">
            <a:avLst/>
          </a:prstGeom>
          <a:solidFill>
            <a:srgbClr val="12192A"/>
          </a:solidFill>
          <a:ln>
            <a:solidFill>
              <a:srgbClr val="12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6177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Goal: turn “sync failed” from a dead end into a guided recovery journey.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80"/>
                </a:solidFill>
                <a:latin typeface="Aptos"/>
              </a:defRPr>
            </a:pPr>
            <a:r>
              <a:t>NOISEFIT  /  PRODUCT MANAGEMENT CASE STUDY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26C80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6FFF"/>
                </a:solidFill>
                <a:latin typeface="Aptos"/>
              </a:defRPr>
            </a:pPr>
            <a:r>
              <a:t>09 / UX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92A"/>
                </a:solidFill>
                <a:latin typeface="Aptos"/>
              </a:defRPr>
            </a:pPr>
            <a:r>
              <a:t>The experience in one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C80"/>
                </a:solidFill>
                <a:latin typeface="Aptos"/>
              </a:defRPr>
            </a:pPr>
            <a:r>
              <a:t>A proposed mobile flow — not a screenshot of the existing NoiseFit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2514600" cy="4251960"/>
          </a:xfrm>
          <a:prstGeom prst="roundRect">
            <a:avLst/>
          </a:prstGeom>
          <a:solidFill>
            <a:srgbClr val="12192A"/>
          </a:solidFill>
          <a:ln>
            <a:solidFill>
              <a:srgbClr val="12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965960"/>
            <a:ext cx="2276856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21284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66FFF"/>
                </a:solidFill>
                <a:latin typeface="Aptos"/>
              </a:defRPr>
            </a:pPr>
            <a:r>
              <a:t>SYNCING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60604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192A"/>
                </a:solidFill>
                <a:latin typeface="Aptos"/>
              </a:defRPr>
            </a:pPr>
            <a:r>
              <a:t>Syncing your data…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" y="3429000"/>
            <a:ext cx="1810512" cy="393192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49300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32B3D"/>
                </a:solidFill>
                <a:latin typeface="Aptos"/>
              </a:defRPr>
            </a:pPr>
            <a:r>
              <a:t>Steps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" y="3959352"/>
            <a:ext cx="1810512" cy="393192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02336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32B3D"/>
                </a:solidFill>
                <a:latin typeface="Aptos"/>
              </a:defRPr>
            </a:pPr>
            <a:r>
              <a:t>Heart rate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" y="4489704"/>
            <a:ext cx="1810512" cy="393192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5371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32B3D"/>
                </a:solidFill>
                <a:latin typeface="Aptos"/>
              </a:defRPr>
            </a:pPr>
            <a:r>
              <a:t>Sleep 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" y="5020056"/>
            <a:ext cx="1810512" cy="393192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084064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32B3D"/>
                </a:solidFill>
                <a:latin typeface="Aptos"/>
              </a:defRPr>
            </a:pPr>
            <a:r>
              <a:t>Workout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39" y="34747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626C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1783080"/>
            <a:ext cx="2514600" cy="4251960"/>
          </a:xfrm>
          <a:prstGeom prst="roundRect">
            <a:avLst/>
          </a:prstGeom>
          <a:solidFill>
            <a:srgbClr val="12192A"/>
          </a:solidFill>
          <a:ln>
            <a:solidFill>
              <a:srgbClr val="12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02152" y="1965960"/>
            <a:ext cx="2276856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5888" y="221284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59D46"/>
                </a:solidFill>
                <a:latin typeface="Aptos"/>
              </a:defRPr>
            </a:pPr>
            <a:r>
              <a:t>PARTIAL 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260604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192A"/>
                </a:solidFill>
                <a:latin typeface="Aptos"/>
              </a:defRPr>
            </a:pPr>
            <a:r>
              <a:t>3 of 4 synced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75888" y="3429000"/>
            <a:ext cx="1810512" cy="393192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76472" y="349300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32B3D"/>
                </a:solidFill>
                <a:latin typeface="Aptos"/>
              </a:defRPr>
            </a:pPr>
            <a:r>
              <a:t>Steps 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959352"/>
            <a:ext cx="1810512" cy="393192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76472" y="402336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32B3D"/>
                </a:solidFill>
                <a:latin typeface="Aptos"/>
              </a:defRPr>
            </a:pPr>
            <a:r>
              <a:t>Heart rate 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75888" y="4489704"/>
            <a:ext cx="1810512" cy="393192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6472" y="455371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32B3D"/>
                </a:solidFill>
                <a:latin typeface="Aptos"/>
              </a:defRPr>
            </a:pPr>
            <a:r>
              <a:t>Sleep 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75888" y="5020056"/>
            <a:ext cx="1810512" cy="393192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76472" y="5084064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32B3D"/>
                </a:solidFill>
                <a:latin typeface="Aptos"/>
              </a:defRPr>
            </a:pPr>
            <a:r>
              <a:t>Workout 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4747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626C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1783080"/>
            <a:ext cx="2514600" cy="4251960"/>
          </a:xfrm>
          <a:prstGeom prst="roundRect">
            <a:avLst/>
          </a:prstGeom>
          <a:solidFill>
            <a:srgbClr val="12192A"/>
          </a:solidFill>
          <a:ln>
            <a:solidFill>
              <a:srgbClr val="12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82512" y="1965960"/>
            <a:ext cx="2276856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221284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E65B60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6248" y="260604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192A"/>
                </a:solidFill>
                <a:latin typeface="Aptos"/>
              </a:defRPr>
            </a:pPr>
            <a:r>
              <a:t>Sleep data couldn't sync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56248" y="3429000"/>
            <a:ext cx="1810512" cy="393192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1" y="349300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32B3D"/>
                </a:solidFill>
                <a:latin typeface="Aptos"/>
              </a:defRPr>
            </a:pPr>
            <a:r>
              <a:t>Last sync: 8:42 PM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56248" y="3959352"/>
            <a:ext cx="1810512" cy="393192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1" y="402336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32B3D"/>
                </a:solidFill>
                <a:latin typeface="Aptos"/>
              </a:defRPr>
            </a:pPr>
            <a:r>
              <a:t>Watch connection interrupted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56248" y="4489704"/>
            <a:ext cx="1810512" cy="393192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1" y="455371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32B3D"/>
                </a:solidFill>
                <a:latin typeface="Aptos"/>
              </a:defRPr>
            </a:pPr>
            <a:r>
              <a:t>[ Retry Sync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59" y="34747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626C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1783080"/>
            <a:ext cx="2514600" cy="4251960"/>
          </a:xfrm>
          <a:prstGeom prst="roundRect">
            <a:avLst/>
          </a:prstGeom>
          <a:solidFill>
            <a:srgbClr val="12192A"/>
          </a:solidFill>
          <a:ln>
            <a:solidFill>
              <a:srgbClr val="12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62872" y="1965960"/>
            <a:ext cx="2276856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36608" y="221284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BB269"/>
                </a:solidFill>
                <a:latin typeface="Aptos"/>
              </a:defRPr>
            </a:pPr>
            <a:r>
              <a:t>SUCCESS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36608" y="260604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192A"/>
                </a:solidFill>
                <a:latin typeface="Aptos"/>
              </a:defRPr>
            </a:pPr>
            <a:r>
              <a:t>Sync complete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36608" y="3429000"/>
            <a:ext cx="1810512" cy="393192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37192" y="349300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32B3D"/>
                </a:solidFill>
                <a:latin typeface="Aptos"/>
              </a:defRPr>
            </a:pPr>
            <a:r>
              <a:t>Steps 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36608" y="3959352"/>
            <a:ext cx="1810512" cy="393192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37192" y="402336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32B3D"/>
                </a:solidFill>
                <a:latin typeface="Aptos"/>
              </a:defRPr>
            </a:pPr>
            <a:r>
              <a:t>Heart rate ✓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36608" y="4489704"/>
            <a:ext cx="1810512" cy="393192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37192" y="455371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32B3D"/>
                </a:solidFill>
                <a:latin typeface="Aptos"/>
              </a:defRPr>
            </a:pPr>
            <a:r>
              <a:t>Sleep ✓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36608" y="5020056"/>
            <a:ext cx="1810512" cy="393192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37192" y="5084064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32B3D"/>
                </a:solidFill>
                <a:latin typeface="Aptos"/>
              </a:defRPr>
            </a:pPr>
            <a:r>
              <a:t>Workout 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80"/>
                </a:solidFill>
                <a:latin typeface="Aptos"/>
              </a:defRPr>
            </a:pPr>
            <a:r>
              <a:t>NOISEFIT  /  PRODUCT MANAGEMENT CASE STUDY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26C8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6FFF"/>
                </a:solidFill>
                <a:latin typeface="Aptos"/>
              </a:defRPr>
            </a:pPr>
            <a:r>
              <a:t>10 / PRD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92A"/>
                </a:solidFill>
                <a:latin typeface="Aptos"/>
              </a:defRPr>
            </a:pPr>
            <a:r>
              <a:t>MVP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C80"/>
                </a:solidFill>
                <a:latin typeface="Aptos"/>
              </a:defRPr>
            </a:pPr>
            <a:r>
              <a:t>The first release solves the information + recovery layer without redesigning the whole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901952"/>
            <a:ext cx="438912" cy="292608"/>
          </a:xfrm>
          <a:prstGeom prst="roundRect">
            <a:avLst/>
          </a:prstGeom>
          <a:solidFill>
            <a:srgbClr val="E8EFFF"/>
          </a:solidFill>
          <a:ln>
            <a:solidFill>
              <a:srgbClr val="E8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11095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366FFF"/>
                </a:solidFill>
                <a:latin typeface="Aptos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188366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Sync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2176272"/>
            <a:ext cx="3886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26C80"/>
                </a:solidFill>
                <a:latin typeface="Aptos"/>
              </a:defRPr>
            </a:pPr>
            <a:r>
              <a:t>Syncing / Up to date / Delayed / Failed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901952"/>
            <a:ext cx="438912" cy="292608"/>
          </a:xfrm>
          <a:prstGeom prst="roundRect">
            <a:avLst/>
          </a:prstGeom>
          <a:solidFill>
            <a:srgbClr val="E8EFFF"/>
          </a:solidFill>
          <a:ln>
            <a:solidFill>
              <a:srgbClr val="E8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11095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366FFF"/>
                </a:solidFill>
                <a:latin typeface="Aptos"/>
              </a:defRPr>
            </a:pPr>
            <a:r>
              <a:t>P0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188366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Data completeness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2176272"/>
            <a:ext cx="3886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26C80"/>
                </a:solidFill>
                <a:latin typeface="Aptos"/>
              </a:defRPr>
            </a:pPr>
            <a:r>
              <a:t>Show status by data 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61488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2926080"/>
            <a:ext cx="438912" cy="292608"/>
          </a:xfrm>
          <a:prstGeom prst="roundRect">
            <a:avLst/>
          </a:prstGeom>
          <a:solidFill>
            <a:srgbClr val="E8EFFF"/>
          </a:solidFill>
          <a:ln>
            <a:solidFill>
              <a:srgbClr val="E8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35224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366FFF"/>
                </a:solidFill>
                <a:latin typeface="Aptos"/>
              </a:defRPr>
            </a:pPr>
            <a:r>
              <a:t>P0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290779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Failure explanation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3200400"/>
            <a:ext cx="3886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26C80"/>
                </a:solidFill>
                <a:latin typeface="Aptos"/>
              </a:defRPr>
            </a:pPr>
            <a:r>
              <a:t>Plain-language reason where detectable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761488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55080" y="2926080"/>
            <a:ext cx="438912" cy="292608"/>
          </a:xfrm>
          <a:prstGeom prst="roundRect">
            <a:avLst/>
          </a:prstGeom>
          <a:solidFill>
            <a:srgbClr val="E8EFFF"/>
          </a:solidFill>
          <a:ln>
            <a:solidFill>
              <a:srgbClr val="E8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935224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366FFF"/>
                </a:solidFill>
                <a:latin typeface="Aptos"/>
              </a:defRPr>
            </a:pPr>
            <a:r>
              <a:t>P0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290779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Retry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200400"/>
            <a:ext cx="3886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26C80"/>
                </a:solidFill>
                <a:latin typeface="Aptos"/>
              </a:defRPr>
            </a:pPr>
            <a:r>
              <a:t>One-tap recovery 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85616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3950208"/>
            <a:ext cx="438912" cy="292608"/>
          </a:xfrm>
          <a:prstGeom prst="roundRect">
            <a:avLst/>
          </a:prstGeom>
          <a:solidFill>
            <a:srgbClr val="E8EFFF"/>
          </a:solidFill>
          <a:ln>
            <a:solidFill>
              <a:srgbClr val="E8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95935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366FFF"/>
                </a:solidFill>
                <a:latin typeface="Aptos"/>
              </a:defRPr>
            </a:pPr>
            <a:r>
              <a:t>P0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393192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Confirmation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4224528"/>
            <a:ext cx="3886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26C80"/>
                </a:solidFill>
                <a:latin typeface="Aptos"/>
              </a:defRPr>
            </a:pPr>
            <a:r>
              <a:t>Explicitly confirm restored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785616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55080" y="3950208"/>
            <a:ext cx="438912" cy="292608"/>
          </a:xfrm>
          <a:prstGeom prst="roundRect">
            <a:avLst/>
          </a:prstGeom>
          <a:solidFill>
            <a:srgbClr val="E4F7F4"/>
          </a:solidFill>
          <a:ln>
            <a:solidFill>
              <a:srgbClr val="E4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95935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3B7A8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6872" y="393192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Bluetooth recovery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4224528"/>
            <a:ext cx="3886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26C80"/>
                </a:solidFill>
                <a:latin typeface="Aptos"/>
              </a:defRPr>
            </a:pPr>
            <a:r>
              <a:t>Guided reconnect flow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809744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4400" y="4974336"/>
            <a:ext cx="438912" cy="292608"/>
          </a:xfrm>
          <a:prstGeom prst="roundRect">
            <a:avLst/>
          </a:prstGeom>
          <a:solidFill>
            <a:srgbClr val="E4F7F4"/>
          </a:solidFill>
          <a:ln>
            <a:solidFill>
              <a:srgbClr val="E4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83479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3B7A8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9560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36192" y="5248656"/>
            <a:ext cx="3886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26C80"/>
                </a:solidFill>
                <a:latin typeface="Aptos"/>
              </a:defRPr>
            </a:pPr>
            <a:r>
              <a:t>Recent successful/failed sync events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809744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55080" y="4974336"/>
            <a:ext cx="438912" cy="292608"/>
          </a:xfrm>
          <a:prstGeom prst="roundRect">
            <a:avLst/>
          </a:prstGeom>
          <a:solidFill>
            <a:srgbClr val="E4F7F4"/>
          </a:solidFill>
          <a:ln>
            <a:solidFill>
              <a:srgbClr val="E4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4983479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3B7A8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76872" y="49560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Escalation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76872" y="5248656"/>
            <a:ext cx="3886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26C80"/>
                </a:solidFill>
                <a:latin typeface="Aptos"/>
              </a:defRPr>
            </a:pPr>
            <a:r>
              <a:t>Support path after repeated failures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80"/>
                </a:solidFill>
                <a:latin typeface="Aptos"/>
              </a:defRPr>
            </a:pPr>
            <a:r>
              <a:t>NOISEFIT  /  PRODUCT MANAGEMENT CASE STUDY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26C8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6FFF"/>
                </a:solidFill>
                <a:latin typeface="Aptos"/>
              </a:defRPr>
            </a:pPr>
            <a:r>
              <a:t>11 /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92A"/>
                </a:solidFill>
                <a:latin typeface="Aptos"/>
              </a:defRPr>
            </a:pPr>
            <a:r>
              <a:t>How we would know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C80"/>
                </a:solidFill>
                <a:latin typeface="Aptos"/>
              </a:defRPr>
            </a:pPr>
            <a:r>
              <a:t>Measure recovery, not vanity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4008" cy="1234440"/>
          </a:xfrm>
          <a:prstGeom prst="rect">
            <a:avLst/>
          </a:prstGeom>
          <a:solidFill>
            <a:srgbClr val="366FFF"/>
          </a:solidFill>
          <a:ln>
            <a:solidFill>
              <a:srgbClr val="36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29968"/>
            <a:ext cx="28346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92A"/>
                </a:solidFill>
                <a:latin typeface="Aptos"/>
              </a:defRPr>
            </a:pPr>
            <a: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26C80"/>
                </a:solidFill>
                <a:latin typeface="Aptos"/>
              </a:defRPr>
            </a:pPr>
            <a:r>
              <a:t>Sync recovery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64008" cy="1234440"/>
          </a:xfrm>
          <a:prstGeom prst="rect">
            <a:avLst/>
          </a:prstGeom>
          <a:solidFill>
            <a:srgbClr val="23B7A8"/>
          </a:solidFill>
          <a:ln>
            <a:solidFill>
              <a:srgbClr val="23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029968"/>
            <a:ext cx="28346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92A"/>
                </a:solidFill>
                <a:latin typeface="Aptos"/>
              </a:defRPr>
            </a:pPr>
            <a:r>
              <a:t>SECONDARY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42032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26C80"/>
                </a:solidFill>
                <a:latin typeface="Aptos"/>
              </a:defRPr>
            </a:pPr>
            <a:r>
              <a:t>Median time to success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8288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828800"/>
            <a:ext cx="64008" cy="1234440"/>
          </a:xfrm>
          <a:prstGeom prst="rect">
            <a:avLst/>
          </a:prstGeom>
          <a:solidFill>
            <a:srgbClr val="E65B60"/>
          </a:solidFill>
          <a:ln>
            <a:solidFill>
              <a:srgbClr val="E6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029968"/>
            <a:ext cx="28346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92A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542032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26C80"/>
                </a:solidFill>
                <a:latin typeface="Aptos"/>
              </a:defRPr>
            </a:pPr>
            <a:r>
              <a:t>Crash + battery impact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2900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0332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E5BEF"/>
                </a:solidFill>
                <a:latin typeface="Aptos"/>
              </a:defRPr>
            </a:pPr>
            <a:r>
              <a:t>A / B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14800"/>
            <a:ext cx="4389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2192A"/>
                </a:solidFill>
                <a:latin typeface="Aptos"/>
              </a:defRPr>
            </a:pPr>
            <a:r>
              <a:t>Control</a:t>
            </a:r>
            <a:br/>
            <a:r>
              <a:t>Existing sync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920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26C80"/>
                </a:solidFill>
                <a:latin typeface="Aptos"/>
              </a:defRPr>
            </a:pPr>
            <a:r>
              <a:t>vs.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429000"/>
            <a:ext cx="4983480" cy="1874519"/>
          </a:xfrm>
          <a:prstGeom prst="roundRect">
            <a:avLst/>
          </a:prstGeom>
          <a:solidFill>
            <a:srgbClr val="12192A"/>
          </a:solidFill>
          <a:ln>
            <a:solidFill>
              <a:srgbClr val="12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70332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B7A8"/>
                </a:solidFill>
                <a:latin typeface="Aptos"/>
              </a:defRPr>
            </a:pPr>
            <a:r>
              <a:t>TREATMENT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4343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Sync Center MVP</a:t>
            </a:r>
            <a:br/>
            <a:r>
              <a:t>Detect → Explain → Recover → Confirm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80"/>
                </a:solidFill>
                <a:latin typeface="Aptos"/>
              </a:defRPr>
            </a:pPr>
            <a:r>
              <a:t>NOISEFIT  /  PRODUCT MANAGEMENT CASE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26C8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6FFF"/>
                </a:solidFill>
                <a:latin typeface="Aptos"/>
              </a:defRPr>
            </a:pPr>
            <a:r>
              <a:t>12 /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92A"/>
                </a:solidFill>
                <a:latin typeface="Aptos"/>
              </a:defRPr>
            </a:pPr>
            <a:r>
              <a:t>Connecting product thinking to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C80"/>
                </a:solidFill>
                <a:latin typeface="Aptos"/>
              </a:defRPr>
            </a:pPr>
            <a:r>
              <a:t>A synthetic telemetry model shows how the feature could be measured after launch.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029968"/>
            <a:ext cx="1417320" cy="292608"/>
          </a:xfrm>
          <a:prstGeom prst="roundRect">
            <a:avLst/>
          </a:prstGeom>
          <a:solidFill>
            <a:srgbClr val="E8EFFF"/>
          </a:solidFill>
          <a:ln>
            <a:solidFill>
              <a:srgbClr val="E8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366FFF"/>
                </a:solidFill>
                <a:latin typeface="Aptos"/>
              </a:defRPr>
            </a:pPr>
            <a:r>
              <a:t>sync_events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Outcome, duration, failure reason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2029968"/>
            <a:ext cx="1417320" cy="292608"/>
          </a:xfrm>
          <a:prstGeom prst="roundRect">
            <a:avLst/>
          </a:prstGeom>
          <a:solidFill>
            <a:srgbClr val="E4F7F4"/>
          </a:solidFill>
          <a:ln>
            <a:solidFill>
              <a:srgbClr val="E4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39112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3B7A8"/>
                </a:solidFill>
                <a:latin typeface="Aptos"/>
              </a:defRPr>
            </a:pPr>
            <a:r>
              <a:t>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Model + user mapping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3447288"/>
            <a:ext cx="1417320" cy="292608"/>
          </a:xfrm>
          <a:prstGeom prst="roundRect">
            <a:avLst/>
          </a:prstGeom>
          <a:solidFill>
            <a:srgbClr val="F0EBFF"/>
          </a:solidFill>
          <a:ln>
            <a:solidFill>
              <a:srgbClr val="F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56432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7E5BEF"/>
                </a:solidFill>
                <a:latin typeface="Aptos"/>
              </a:defRPr>
            </a:pPr>
            <a:r>
              <a:t>support_tickets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8862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Category + resolution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4612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3447288"/>
            <a:ext cx="1417320" cy="292608"/>
          </a:xfrm>
          <a:prstGeom prst="roundRect">
            <a:avLst/>
          </a:prstGeom>
          <a:solidFill>
            <a:srgbClr val="FFF3E2"/>
          </a:solidFill>
          <a:ln>
            <a:solidFill>
              <a:srgbClr val="FFF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56432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59D46"/>
                </a:solidFill>
                <a:latin typeface="Aptos"/>
              </a:defRPr>
            </a:pPr>
            <a:r>
              <a:t>app_sessions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8862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B3D"/>
                </a:solidFill>
                <a:latin typeface="Aptos"/>
              </a:defRPr>
            </a:pPr>
            <a:r>
              <a:t>Engagement + entry point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92040"/>
            <a:ext cx="10561320" cy="777240"/>
          </a:xfrm>
          <a:prstGeom prst="roundRect">
            <a:avLst/>
          </a:prstGeom>
          <a:solidFill>
            <a:srgbClr val="12192A"/>
          </a:solidFill>
          <a:ln>
            <a:solidFill>
              <a:srgbClr val="12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93208"/>
            <a:ext cx="10104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Questions: failure rate by device • repeat failures • time-to-recovery • support burden • 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978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65B60"/>
                </a:solidFill>
                <a:latin typeface="Aptos"/>
              </a:defRPr>
            </a:pPr>
            <a:r>
              <a:t>⚠ All telemetry in this portfolio demo is synthetic — not Noise internal data.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80"/>
                </a:solidFill>
                <a:latin typeface="Aptos"/>
              </a:defRPr>
            </a:pPr>
            <a:r>
              <a:t>NOISEFIT  /  PRODUCT MANAGEMENT CASE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26C8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6FFF"/>
                </a:solidFill>
                <a:latin typeface="Aptos"/>
              </a:defRPr>
            </a:pPr>
            <a:r>
              <a:t>13 /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92A"/>
                </a:solidFill>
                <a:latin typeface="Aptos"/>
              </a:defRPr>
            </a:pPr>
            <a:r>
              <a:t>Ship safely, learn quickly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C80"/>
                </a:solidFill>
                <a:latin typeface="Aptos"/>
              </a:defRPr>
            </a:pPr>
            <a:r>
              <a:t>Start with comprehension, then validate technical reliability before scaling.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057400"/>
            <a:ext cx="713232" cy="713232"/>
          </a:xfrm>
          <a:prstGeom prst="ellipse">
            <a:avLst/>
          </a:prstGeom>
          <a:solidFill>
            <a:srgbClr val="36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7132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2192A"/>
                </a:solidFill>
                <a:latin typeface="Aptos"/>
              </a:defRPr>
            </a:pPr>
            <a: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0156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26C80"/>
                </a:solidFill>
                <a:latin typeface="Aptos"/>
              </a:defRPr>
            </a:pPr>
            <a:r>
              <a:t>Usability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1" y="2350008"/>
            <a:ext cx="777240" cy="54864"/>
          </a:xfrm>
          <a:prstGeom prst="rect">
            <a:avLst/>
          </a:prstGeom>
          <a:solidFill>
            <a:srgbClr val="D5DAE4"/>
          </a:solidFill>
          <a:ln>
            <a:solidFill>
              <a:srgbClr val="D5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64991" y="2057400"/>
            <a:ext cx="713232" cy="713232"/>
          </a:xfrm>
          <a:prstGeom prst="ellipse">
            <a:avLst/>
          </a:prstGeom>
          <a:solidFill>
            <a:srgbClr val="7E5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1" y="2240280"/>
            <a:ext cx="7132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301752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2192A"/>
                </a:solidFill>
                <a:latin typeface="Aptos"/>
              </a:defRPr>
            </a:pPr>
            <a:r>
              <a:t>Dogfood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340156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26C80"/>
                </a:solidFill>
                <a:latin typeface="Aptos"/>
              </a:defRPr>
            </a:pPr>
            <a:r>
              <a:t>Device/OS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23944" y="2350008"/>
            <a:ext cx="777240" cy="54864"/>
          </a:xfrm>
          <a:prstGeom prst="rect">
            <a:avLst/>
          </a:prstGeom>
          <a:solidFill>
            <a:srgbClr val="D5DAE4"/>
          </a:solidFill>
          <a:ln>
            <a:solidFill>
              <a:srgbClr val="D5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32704" y="2057400"/>
            <a:ext cx="713232" cy="713232"/>
          </a:xfrm>
          <a:prstGeom prst="ellipse">
            <a:avLst/>
          </a:prstGeom>
          <a:solidFill>
            <a:srgbClr val="23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2704" y="2240280"/>
            <a:ext cx="7132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301752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2192A"/>
                </a:solidFill>
                <a:latin typeface="Aptos"/>
              </a:defRPr>
            </a:pPr>
            <a:r>
              <a:t>Limited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340156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26C80"/>
                </a:solidFill>
                <a:latin typeface="Aptos"/>
              </a:defRPr>
            </a:pPr>
            <a:r>
              <a:t>Measure recovery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91656" y="2350008"/>
            <a:ext cx="777240" cy="54864"/>
          </a:xfrm>
          <a:prstGeom prst="rect">
            <a:avLst/>
          </a:prstGeom>
          <a:solidFill>
            <a:srgbClr val="D5DAE4"/>
          </a:solidFill>
          <a:ln>
            <a:solidFill>
              <a:srgbClr val="D5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0416" y="2057400"/>
            <a:ext cx="713232" cy="713232"/>
          </a:xfrm>
          <a:prstGeom prst="ellipse">
            <a:avLst/>
          </a:prstGeom>
          <a:solidFill>
            <a:srgbClr val="F59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0416" y="2240280"/>
            <a:ext cx="7132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301752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2192A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7496" y="340156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26C80"/>
                </a:solidFill>
                <a:latin typeface="Aptos"/>
              </a:defRPr>
            </a:pPr>
            <a:r>
              <a:t>Broader rollout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59367" y="2350008"/>
            <a:ext cx="777240" cy="54864"/>
          </a:xfrm>
          <a:prstGeom prst="rect">
            <a:avLst/>
          </a:prstGeom>
          <a:solidFill>
            <a:srgbClr val="D5DAE4"/>
          </a:solidFill>
          <a:ln>
            <a:solidFill>
              <a:srgbClr val="D5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68128" y="2057400"/>
            <a:ext cx="713232" cy="713232"/>
          </a:xfrm>
          <a:prstGeom prst="ellipse">
            <a:avLst/>
          </a:prstGeom>
          <a:solidFill>
            <a:srgbClr val="2BB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2240280"/>
            <a:ext cx="7132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208" y="301752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2192A"/>
                </a:solidFill>
                <a:latin typeface="Aptos"/>
              </a:defRPr>
            </a:pPr>
            <a:r>
              <a:t>Iterate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208" y="340156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26C80"/>
                </a:solidFill>
                <a:latin typeface="Aptos"/>
              </a:defRPr>
            </a:pPr>
            <a:r>
              <a:t>Failure telemetry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617720"/>
            <a:ext cx="10149840" cy="868680"/>
          </a:xfrm>
          <a:prstGeom prst="roundRect">
            <a:avLst/>
          </a:prstGeom>
          <a:solidFill>
            <a:srgbClr val="E8EFFF"/>
          </a:solidFill>
          <a:ln>
            <a:solidFill>
              <a:srgbClr val="E8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4864608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366FFF"/>
                </a:solidFill>
                <a:latin typeface="Aptos"/>
              </a:defRPr>
            </a:pPr>
            <a:r>
              <a:t>Launch message: “Know when your data is synced. Recover when it isn’t.”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80"/>
                </a:solidFill>
                <a:latin typeface="Aptos"/>
              </a:defRPr>
            </a:pPr>
            <a:r>
              <a:t>NOISEFIT  /  PRODUCT MANAGEMENT CASE STUDY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26C80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A"/>
          </a:solidFill>
          <a:ln>
            <a:solidFill>
              <a:srgbClr val="12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B7A8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The PM decision was not</a:t>
            </a:r>
            <a:br/>
            <a:r>
              <a:t>“users want more features.”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DCE3EF"/>
                </a:solidFill>
                <a:latin typeface="Aptos"/>
              </a:defRPr>
            </a:pPr>
            <a:r>
              <a:t>The evidence points toward a narrower opportunity:</a:t>
            </a:r>
            <a:br/>
            <a:r>
              <a:t>make the existing wearable-data experience more understandable and recoverable.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1691640" cy="292608"/>
          </a:xfrm>
          <a:prstGeom prst="roundRect">
            <a:avLst/>
          </a:prstGeom>
          <a:solidFill>
            <a:srgbClr val="366FFF"/>
          </a:solidFill>
          <a:ln>
            <a:solidFill>
              <a:srgbClr val="36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86783"/>
            <a:ext cx="16916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99592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B4BE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3977639"/>
            <a:ext cx="1691640" cy="292608"/>
          </a:xfrm>
          <a:prstGeom prst="roundRect">
            <a:avLst/>
          </a:prstGeom>
          <a:solidFill>
            <a:srgbClr val="7E5BEF"/>
          </a:solidFill>
          <a:ln>
            <a:solidFill>
              <a:srgbClr val="7E5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3986783"/>
            <a:ext cx="16916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SYNTHESIZE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99592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B4BE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977639"/>
            <a:ext cx="1691640" cy="292608"/>
          </a:xfrm>
          <a:prstGeom prst="roundRect">
            <a:avLst/>
          </a:prstGeom>
          <a:solidFill>
            <a:srgbClr val="23B7A8"/>
          </a:solidFill>
          <a:ln>
            <a:solidFill>
              <a:srgbClr val="23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986783"/>
            <a:ext cx="16916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99592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B4BE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3977639"/>
            <a:ext cx="1691640" cy="292608"/>
          </a:xfrm>
          <a:prstGeom prst="roundRect">
            <a:avLst/>
          </a:prstGeom>
          <a:solidFill>
            <a:srgbClr val="F59D46"/>
          </a:solidFill>
          <a:ln>
            <a:solidFill>
              <a:srgbClr val="F5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3986783"/>
            <a:ext cx="16916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99592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B4BE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3977639"/>
            <a:ext cx="1691640" cy="292608"/>
          </a:xfrm>
          <a:prstGeom prst="roundRect">
            <a:avLst/>
          </a:prstGeom>
          <a:solidFill>
            <a:srgbClr val="2BB269"/>
          </a:solidFill>
          <a:ln>
            <a:solidFill>
              <a:srgbClr val="2BB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3986783"/>
            <a:ext cx="16916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9875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A complete PM story: evidence → problem → product decision → PRD → UX → analytics → experimentation.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4BED2"/>
                </a:solidFill>
                <a:latin typeface="Aptos"/>
              </a:defRPr>
            </a:pPr>
            <a:r>
              <a:t>NoiseFit Sync Center  •  Portfolio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80"/>
                </a:solidFill>
                <a:latin typeface="Aptos"/>
              </a:defRPr>
            </a:pPr>
            <a:r>
              <a:t>NOISEFIT  /  PRODUCT MANAGEMENT CASE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26C80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NoiseFit Sync Center — Product Management Case Study</dc:title>
  <dc:subject>PM portfolio case study</dc:subject>
  <dc:creator>Mohak Seth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